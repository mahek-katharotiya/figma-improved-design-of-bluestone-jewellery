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5"/>
  </p:notesMasterIdLst>
  <p:handoutMasterIdLst>
    <p:handoutMasterId r:id="rId16"/>
  </p:handoutMasterIdLst>
  <p:sldIdLst>
    <p:sldId id="312" r:id="rId5"/>
    <p:sldId id="320" r:id="rId6"/>
    <p:sldId id="321" r:id="rId7"/>
    <p:sldId id="316" r:id="rId8"/>
    <p:sldId id="314" r:id="rId9"/>
    <p:sldId id="313" r:id="rId10"/>
    <p:sldId id="315" r:id="rId11"/>
    <p:sldId id="317" r:id="rId12"/>
    <p:sldId id="319" r:id="rId13"/>
    <p:sldId id="318" r:id="rId14"/>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388" autoAdjust="0"/>
  </p:normalViewPr>
  <p:slideViewPr>
    <p:cSldViewPr snapToGrid="0" snapToObjects="1">
      <p:cViewPr varScale="1">
        <p:scale>
          <a:sx n="66" d="100"/>
          <a:sy n="66" d="100"/>
        </p:scale>
        <p:origin x="668" y="32"/>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2026</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810227"/>
            <a:ext cx="6392421" cy="3831221"/>
          </a:xfrm>
        </p:spPr>
        <p:txBody>
          <a:bodyPr anchor="ctr"/>
          <a:lstStyle/>
          <a:p>
            <a:r>
              <a:rPr lang="en-US" dirty="0"/>
              <a:t>Bluestone </a:t>
            </a:r>
            <a:br>
              <a:rPr lang="en-US" dirty="0"/>
            </a:br>
            <a:r>
              <a:rPr lang="en-US" dirty="0"/>
              <a:t>personas</a:t>
            </a: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AED73-83B2-48B4-8233-01E183E361A8}"/>
              </a:ext>
            </a:extLst>
          </p:cNvPr>
          <p:cNvSpPr>
            <a:spLocks noGrp="1"/>
          </p:cNvSpPr>
          <p:nvPr>
            <p:ph type="title"/>
          </p:nvPr>
        </p:nvSpPr>
        <p:spPr>
          <a:xfrm>
            <a:off x="2757110" y="522608"/>
            <a:ext cx="5723586" cy="1046310"/>
          </a:xfrm>
        </p:spPr>
        <p:txBody>
          <a:bodyPr/>
          <a:lstStyle/>
          <a:p>
            <a:pPr algn="ctr"/>
            <a:r>
              <a:rPr lang="en-US" dirty="0"/>
              <a:t>Research gap</a:t>
            </a:r>
          </a:p>
        </p:txBody>
      </p:sp>
      <p:sp>
        <p:nvSpPr>
          <p:cNvPr id="4" name="TextBox 3">
            <a:extLst>
              <a:ext uri="{FF2B5EF4-FFF2-40B4-BE49-F238E27FC236}">
                <a16:creationId xmlns:a16="http://schemas.microsoft.com/office/drawing/2014/main" id="{D8331B29-2A2E-41A2-8B14-4622486BA14B}"/>
              </a:ext>
            </a:extLst>
          </p:cNvPr>
          <p:cNvSpPr txBox="1"/>
          <p:nvPr/>
        </p:nvSpPr>
        <p:spPr>
          <a:xfrm>
            <a:off x="1460790" y="1859339"/>
            <a:ext cx="8316227" cy="3139321"/>
          </a:xfrm>
          <a:prstGeom prst="rect">
            <a:avLst/>
          </a:prstGeom>
          <a:noFill/>
        </p:spPr>
        <p:txBody>
          <a:bodyPr wrap="square" rtlCol="0">
            <a:spAutoFit/>
          </a:bodyPr>
          <a:lstStyle/>
          <a:p>
            <a:pPr algn="ctr"/>
            <a:r>
              <a:rPr lang="en-US" dirty="0"/>
              <a:t>Although </a:t>
            </a:r>
            <a:r>
              <a:rPr lang="en-US" dirty="0" err="1"/>
              <a:t>BlueStone</a:t>
            </a:r>
            <a:r>
              <a:rPr lang="en-US" dirty="0"/>
              <a:t> provides a wide range of </a:t>
            </a:r>
            <a:r>
              <a:rPr lang="en-US" dirty="0" err="1"/>
              <a:t>jewellery</a:t>
            </a:r>
            <a:r>
              <a:rPr lang="en-US" dirty="0"/>
              <a:t>, detailed product information, search options, filters, and online purchasing facilities, there is a gap in understanding how different types of users experience the website. The interface provides many choices, but the large number of categories, filters, product details, and promotional elements may increase cognitive load, especially for first-time users, older users, and users shopping on mobile devices. There is also scope to investigate whether users can easily understand product information, compare </a:t>
            </a:r>
            <a:r>
              <a:rPr lang="en-US" dirty="0" err="1"/>
              <a:t>jewellery</a:t>
            </a:r>
            <a:r>
              <a:rPr lang="en-US" dirty="0"/>
              <a:t>, determine the right size, evaluate authenticity, and complete purchases without confusion. Therefore, further research is needed to identify usability, accessibility, navigation, personalization, and trust-related issues in the </a:t>
            </a:r>
            <a:r>
              <a:rPr lang="en-US" dirty="0" err="1"/>
              <a:t>BlueStone</a:t>
            </a:r>
            <a:r>
              <a:rPr lang="en-US" dirty="0"/>
              <a:t> website and develop a simpler, more user-</a:t>
            </a:r>
            <a:r>
              <a:rPr lang="en-US" dirty="0" err="1"/>
              <a:t>centred</a:t>
            </a:r>
            <a:r>
              <a:rPr lang="en-US" dirty="0"/>
              <a:t> shopping experience.</a:t>
            </a:r>
          </a:p>
        </p:txBody>
      </p:sp>
    </p:spTree>
    <p:extLst>
      <p:ext uri="{BB962C8B-B14F-4D97-AF65-F5344CB8AC3E}">
        <p14:creationId xmlns:p14="http://schemas.microsoft.com/office/powerpoint/2010/main" val="12917938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45FCB-2135-468C-A01D-A218FB2AF988}"/>
              </a:ext>
            </a:extLst>
          </p:cNvPr>
          <p:cNvSpPr>
            <a:spLocks noGrp="1"/>
          </p:cNvSpPr>
          <p:nvPr>
            <p:ph type="title"/>
          </p:nvPr>
        </p:nvSpPr>
        <p:spPr>
          <a:xfrm>
            <a:off x="840186" y="532015"/>
            <a:ext cx="10511627" cy="687767"/>
          </a:xfrm>
        </p:spPr>
        <p:txBody>
          <a:bodyPr/>
          <a:lstStyle/>
          <a:p>
            <a:r>
              <a:rPr lang="en-US" dirty="0"/>
              <a:t>Key research gaps</a:t>
            </a:r>
          </a:p>
        </p:txBody>
      </p:sp>
      <p:graphicFrame>
        <p:nvGraphicFramePr>
          <p:cNvPr id="6" name="Table 5">
            <a:extLst>
              <a:ext uri="{FF2B5EF4-FFF2-40B4-BE49-F238E27FC236}">
                <a16:creationId xmlns:a16="http://schemas.microsoft.com/office/drawing/2014/main" id="{E90129AA-7A08-4192-886E-F637FE52E2DD}"/>
              </a:ext>
            </a:extLst>
          </p:cNvPr>
          <p:cNvGraphicFramePr>
            <a:graphicFrameLocks noGrp="1"/>
          </p:cNvGraphicFramePr>
          <p:nvPr>
            <p:extLst>
              <p:ext uri="{D42A27DB-BD31-4B8C-83A1-F6EECF244321}">
                <p14:modId xmlns:p14="http://schemas.microsoft.com/office/powerpoint/2010/main" val="3120125813"/>
              </p:ext>
            </p:extLst>
          </p:nvPr>
        </p:nvGraphicFramePr>
        <p:xfrm>
          <a:off x="1055572" y="1448919"/>
          <a:ext cx="10096900" cy="5290793"/>
        </p:xfrm>
        <a:graphic>
          <a:graphicData uri="http://schemas.openxmlformats.org/drawingml/2006/table">
            <a:tbl>
              <a:tblPr/>
              <a:tblGrid>
                <a:gridCol w="4976653">
                  <a:extLst>
                    <a:ext uri="{9D8B030D-6E8A-4147-A177-3AD203B41FA5}">
                      <a16:colId xmlns:a16="http://schemas.microsoft.com/office/drawing/2014/main" val="1795219442"/>
                    </a:ext>
                  </a:extLst>
                </a:gridCol>
                <a:gridCol w="5120247">
                  <a:extLst>
                    <a:ext uri="{9D8B030D-6E8A-4147-A177-3AD203B41FA5}">
                      <a16:colId xmlns:a16="http://schemas.microsoft.com/office/drawing/2014/main" val="871757980"/>
                    </a:ext>
                  </a:extLst>
                </a:gridCol>
              </a:tblGrid>
              <a:tr h="268740">
                <a:tc>
                  <a:txBody>
                    <a:bodyPr/>
                    <a:lstStyle/>
                    <a:p>
                      <a:r>
                        <a:rPr lang="en-US" sz="1400" b="1" dirty="0"/>
                        <a:t> Area</a:t>
                      </a:r>
                      <a:endParaRPr lang="en-US" sz="1400" dirty="0"/>
                    </a:p>
                  </a:txBody>
                  <a:tcPr marL="56511" marR="56511" marT="28255" marB="28255" anchor="ctr">
                    <a:lnL>
                      <a:noFill/>
                    </a:lnL>
                    <a:lnR>
                      <a:noFill/>
                    </a:lnR>
                    <a:lnT>
                      <a:noFill/>
                    </a:lnT>
                    <a:lnB>
                      <a:noFill/>
                    </a:lnB>
                  </a:tcPr>
                </a:tc>
                <a:tc>
                  <a:txBody>
                    <a:bodyPr/>
                    <a:lstStyle/>
                    <a:p>
                      <a:r>
                        <a:rPr lang="en-US" sz="1400" b="1"/>
                        <a:t>Research Gap</a:t>
                      </a:r>
                      <a:endParaRPr lang="en-US" sz="1400"/>
                    </a:p>
                  </a:txBody>
                  <a:tcPr marL="56511" marR="56511" marT="28255" marB="28255" anchor="ctr">
                    <a:lnL>
                      <a:noFill/>
                    </a:lnL>
                    <a:lnR>
                      <a:noFill/>
                    </a:lnR>
                    <a:lnT>
                      <a:noFill/>
                    </a:lnT>
                    <a:lnB>
                      <a:noFill/>
                    </a:lnB>
                  </a:tcPr>
                </a:tc>
                <a:extLst>
                  <a:ext uri="{0D108BD9-81ED-4DB2-BD59-A6C34878D82A}">
                    <a16:rowId xmlns:a16="http://schemas.microsoft.com/office/drawing/2014/main" val="4200195660"/>
                  </a:ext>
                </a:extLst>
              </a:tr>
              <a:tr h="470296">
                <a:tc>
                  <a:txBody>
                    <a:bodyPr/>
                    <a:lstStyle/>
                    <a:p>
                      <a:r>
                        <a:rPr lang="en-US" sz="1400" b="1" dirty="0"/>
                        <a:t> Navigation</a:t>
                      </a:r>
                      <a:endParaRPr lang="en-US" sz="1400" dirty="0"/>
                    </a:p>
                  </a:txBody>
                  <a:tcPr marL="56511" marR="56511" marT="28255" marB="28255" anchor="ctr">
                    <a:lnL>
                      <a:noFill/>
                    </a:lnL>
                    <a:lnR>
                      <a:noFill/>
                    </a:lnR>
                    <a:lnT>
                      <a:noFill/>
                    </a:lnT>
                    <a:lnB>
                      <a:noFill/>
                    </a:lnB>
                  </a:tcPr>
                </a:tc>
                <a:tc>
                  <a:txBody>
                    <a:bodyPr/>
                    <a:lstStyle/>
                    <a:p>
                      <a:r>
                        <a:rPr lang="en-US" sz="1400"/>
                        <a:t>Large number of categories may make finding specific products difficult.</a:t>
                      </a:r>
                    </a:p>
                  </a:txBody>
                  <a:tcPr marL="56511" marR="56511" marT="28255" marB="28255" anchor="ctr">
                    <a:lnL>
                      <a:noFill/>
                    </a:lnL>
                    <a:lnR>
                      <a:noFill/>
                    </a:lnR>
                    <a:lnT>
                      <a:noFill/>
                    </a:lnT>
                    <a:lnB>
                      <a:noFill/>
                    </a:lnB>
                  </a:tcPr>
                </a:tc>
                <a:extLst>
                  <a:ext uri="{0D108BD9-81ED-4DB2-BD59-A6C34878D82A}">
                    <a16:rowId xmlns:a16="http://schemas.microsoft.com/office/drawing/2014/main" val="1547695011"/>
                  </a:ext>
                </a:extLst>
              </a:tr>
              <a:tr h="470296">
                <a:tc>
                  <a:txBody>
                    <a:bodyPr/>
                    <a:lstStyle/>
                    <a:p>
                      <a:r>
                        <a:rPr lang="en-US" sz="1400" b="1" dirty="0"/>
                        <a:t> Learnability</a:t>
                      </a:r>
                      <a:endParaRPr lang="en-US" sz="1400" dirty="0"/>
                    </a:p>
                  </a:txBody>
                  <a:tcPr marL="56511" marR="56511" marT="28255" marB="28255" anchor="ctr">
                    <a:lnL>
                      <a:noFill/>
                    </a:lnL>
                    <a:lnR>
                      <a:noFill/>
                    </a:lnR>
                    <a:lnT>
                      <a:noFill/>
                    </a:lnT>
                    <a:lnB>
                      <a:noFill/>
                    </a:lnB>
                  </a:tcPr>
                </a:tc>
                <a:tc>
                  <a:txBody>
                    <a:bodyPr/>
                    <a:lstStyle/>
                    <a:p>
                      <a:r>
                        <a:rPr lang="en-US" sz="1400"/>
                        <a:t>First-time users may need time to understand the extensive shopping options.</a:t>
                      </a:r>
                    </a:p>
                  </a:txBody>
                  <a:tcPr marL="56511" marR="56511" marT="28255" marB="28255" anchor="ctr">
                    <a:lnL>
                      <a:noFill/>
                    </a:lnL>
                    <a:lnR>
                      <a:noFill/>
                    </a:lnR>
                    <a:lnT>
                      <a:noFill/>
                    </a:lnT>
                    <a:lnB>
                      <a:noFill/>
                    </a:lnB>
                  </a:tcPr>
                </a:tc>
                <a:extLst>
                  <a:ext uri="{0D108BD9-81ED-4DB2-BD59-A6C34878D82A}">
                    <a16:rowId xmlns:a16="http://schemas.microsoft.com/office/drawing/2014/main" val="2420117739"/>
                  </a:ext>
                </a:extLst>
              </a:tr>
              <a:tr h="470296">
                <a:tc>
                  <a:txBody>
                    <a:bodyPr/>
                    <a:lstStyle/>
                    <a:p>
                      <a:r>
                        <a:rPr lang="en-US" sz="1400" b="1" dirty="0"/>
                        <a:t> Accessibility</a:t>
                      </a:r>
                      <a:endParaRPr lang="en-US" sz="1400" dirty="0"/>
                    </a:p>
                  </a:txBody>
                  <a:tcPr marL="56511" marR="56511" marT="28255" marB="28255" anchor="ctr">
                    <a:lnL>
                      <a:noFill/>
                    </a:lnL>
                    <a:lnR>
                      <a:noFill/>
                    </a:lnR>
                    <a:lnT>
                      <a:noFill/>
                    </a:lnT>
                    <a:lnB>
                      <a:noFill/>
                    </a:lnB>
                  </a:tcPr>
                </a:tc>
                <a:tc>
                  <a:txBody>
                    <a:bodyPr/>
                    <a:lstStyle/>
                    <a:p>
                      <a:r>
                        <a:rPr lang="en-US" sz="1400"/>
                        <a:t>More attention could be given to users with different accessibility needs.</a:t>
                      </a:r>
                    </a:p>
                  </a:txBody>
                  <a:tcPr marL="56511" marR="56511" marT="28255" marB="28255" anchor="ctr">
                    <a:lnL>
                      <a:noFill/>
                    </a:lnL>
                    <a:lnR>
                      <a:noFill/>
                    </a:lnR>
                    <a:lnT>
                      <a:noFill/>
                    </a:lnT>
                    <a:lnB>
                      <a:noFill/>
                    </a:lnB>
                  </a:tcPr>
                </a:tc>
                <a:extLst>
                  <a:ext uri="{0D108BD9-81ED-4DB2-BD59-A6C34878D82A}">
                    <a16:rowId xmlns:a16="http://schemas.microsoft.com/office/drawing/2014/main" val="3354597974"/>
                  </a:ext>
                </a:extLst>
              </a:tr>
              <a:tr h="470296">
                <a:tc>
                  <a:txBody>
                    <a:bodyPr/>
                    <a:lstStyle/>
                    <a:p>
                      <a:r>
                        <a:rPr lang="en-US" sz="1400" b="1" dirty="0"/>
                        <a:t> Product Information</a:t>
                      </a:r>
                      <a:endParaRPr lang="en-US" sz="1400" dirty="0"/>
                    </a:p>
                  </a:txBody>
                  <a:tcPr marL="56511" marR="56511" marT="28255" marB="28255" anchor="ctr">
                    <a:lnL>
                      <a:noFill/>
                    </a:lnL>
                    <a:lnR>
                      <a:noFill/>
                    </a:lnR>
                    <a:lnT>
                      <a:noFill/>
                    </a:lnT>
                    <a:lnB>
                      <a:noFill/>
                    </a:lnB>
                  </a:tcPr>
                </a:tc>
                <a:tc>
                  <a:txBody>
                    <a:bodyPr/>
                    <a:lstStyle/>
                    <a:p>
                      <a:r>
                        <a:rPr lang="en-US" sz="1400"/>
                        <a:t>Users may need clearer information about size, materials, authenticity and pricing.</a:t>
                      </a:r>
                    </a:p>
                  </a:txBody>
                  <a:tcPr marL="56511" marR="56511" marT="28255" marB="28255" anchor="ctr">
                    <a:lnL>
                      <a:noFill/>
                    </a:lnL>
                    <a:lnR>
                      <a:noFill/>
                    </a:lnR>
                    <a:lnT>
                      <a:noFill/>
                    </a:lnT>
                    <a:lnB>
                      <a:noFill/>
                    </a:lnB>
                  </a:tcPr>
                </a:tc>
                <a:extLst>
                  <a:ext uri="{0D108BD9-81ED-4DB2-BD59-A6C34878D82A}">
                    <a16:rowId xmlns:a16="http://schemas.microsoft.com/office/drawing/2014/main" val="3456064240"/>
                  </a:ext>
                </a:extLst>
              </a:tr>
              <a:tr h="470296">
                <a:tc>
                  <a:txBody>
                    <a:bodyPr/>
                    <a:lstStyle/>
                    <a:p>
                      <a:r>
                        <a:rPr lang="en-US" sz="1400" b="1" dirty="0"/>
                        <a:t> Comparison</a:t>
                      </a:r>
                      <a:endParaRPr lang="en-US" sz="1400" dirty="0"/>
                    </a:p>
                  </a:txBody>
                  <a:tcPr marL="56511" marR="56511" marT="28255" marB="28255" anchor="ctr">
                    <a:lnL>
                      <a:noFill/>
                    </a:lnL>
                    <a:lnR>
                      <a:noFill/>
                    </a:lnR>
                    <a:lnT>
                      <a:noFill/>
                    </a:lnT>
                    <a:lnB>
                      <a:noFill/>
                    </a:lnB>
                  </a:tcPr>
                </a:tc>
                <a:tc>
                  <a:txBody>
                    <a:bodyPr/>
                    <a:lstStyle/>
                    <a:p>
                      <a:r>
                        <a:rPr lang="en-US" sz="1400" dirty="0"/>
                        <a:t>Comparing multiple </a:t>
                      </a:r>
                      <a:r>
                        <a:rPr lang="en-US" sz="1400" dirty="0" err="1"/>
                        <a:t>jewellery</a:t>
                      </a:r>
                      <a:r>
                        <a:rPr lang="en-US" sz="1400" dirty="0"/>
                        <a:t> products could be made more efficient.</a:t>
                      </a:r>
                    </a:p>
                  </a:txBody>
                  <a:tcPr marL="56511" marR="56511" marT="28255" marB="28255" anchor="ctr">
                    <a:lnL>
                      <a:noFill/>
                    </a:lnL>
                    <a:lnR>
                      <a:noFill/>
                    </a:lnR>
                    <a:lnT>
                      <a:noFill/>
                    </a:lnT>
                    <a:lnB>
                      <a:noFill/>
                    </a:lnB>
                  </a:tcPr>
                </a:tc>
                <a:extLst>
                  <a:ext uri="{0D108BD9-81ED-4DB2-BD59-A6C34878D82A}">
                    <a16:rowId xmlns:a16="http://schemas.microsoft.com/office/drawing/2014/main" val="3020396024"/>
                  </a:ext>
                </a:extLst>
              </a:tr>
              <a:tr h="470296">
                <a:tc>
                  <a:txBody>
                    <a:bodyPr/>
                    <a:lstStyle/>
                    <a:p>
                      <a:r>
                        <a:rPr lang="en-US" sz="1400" b="1" dirty="0"/>
                        <a:t> Mobile Experience</a:t>
                      </a:r>
                      <a:endParaRPr lang="en-US" sz="1400" dirty="0"/>
                    </a:p>
                  </a:txBody>
                  <a:tcPr marL="56511" marR="56511" marT="28255" marB="28255" anchor="ctr">
                    <a:lnL>
                      <a:noFill/>
                    </a:lnL>
                    <a:lnR>
                      <a:noFill/>
                    </a:lnR>
                    <a:lnT>
                      <a:noFill/>
                    </a:lnT>
                    <a:lnB>
                      <a:noFill/>
                    </a:lnB>
                  </a:tcPr>
                </a:tc>
                <a:tc>
                  <a:txBody>
                    <a:bodyPr/>
                    <a:lstStyle/>
                    <a:p>
                      <a:r>
                        <a:rPr lang="en-US" sz="1400" dirty="0"/>
                        <a:t>Extensive information and filtering may create additional effort on smaller screens.</a:t>
                      </a:r>
                    </a:p>
                  </a:txBody>
                  <a:tcPr marL="56511" marR="56511" marT="28255" marB="28255" anchor="ctr">
                    <a:lnL>
                      <a:noFill/>
                    </a:lnL>
                    <a:lnR>
                      <a:noFill/>
                    </a:lnR>
                    <a:lnT>
                      <a:noFill/>
                    </a:lnT>
                    <a:lnB>
                      <a:noFill/>
                    </a:lnB>
                  </a:tcPr>
                </a:tc>
                <a:extLst>
                  <a:ext uri="{0D108BD9-81ED-4DB2-BD59-A6C34878D82A}">
                    <a16:rowId xmlns:a16="http://schemas.microsoft.com/office/drawing/2014/main" val="1640662513"/>
                  </a:ext>
                </a:extLst>
              </a:tr>
              <a:tr h="470296">
                <a:tc>
                  <a:txBody>
                    <a:bodyPr/>
                    <a:lstStyle/>
                    <a:p>
                      <a:r>
                        <a:rPr lang="en-US" sz="1400" b="1" dirty="0"/>
                        <a:t> Personalization</a:t>
                      </a:r>
                      <a:endParaRPr lang="en-US" sz="1400" dirty="0"/>
                    </a:p>
                  </a:txBody>
                  <a:tcPr marL="56511" marR="56511" marT="28255" marB="28255" anchor="ctr">
                    <a:lnL>
                      <a:noFill/>
                    </a:lnL>
                    <a:lnR>
                      <a:noFill/>
                    </a:lnR>
                    <a:lnT>
                      <a:noFill/>
                    </a:lnT>
                    <a:lnB>
                      <a:noFill/>
                    </a:lnB>
                  </a:tcPr>
                </a:tc>
                <a:tc>
                  <a:txBody>
                    <a:bodyPr/>
                    <a:lstStyle/>
                    <a:p>
                      <a:r>
                        <a:rPr lang="en-US" sz="1400" dirty="0"/>
                        <a:t>Recommendations could be more closely tailored to individual preferences and browsing </a:t>
                      </a:r>
                      <a:r>
                        <a:rPr lang="en-US" sz="1400" dirty="0" err="1"/>
                        <a:t>behaviour</a:t>
                      </a:r>
                      <a:r>
                        <a:rPr lang="en-US" sz="1400" dirty="0"/>
                        <a:t>.</a:t>
                      </a:r>
                    </a:p>
                  </a:txBody>
                  <a:tcPr marL="56511" marR="56511" marT="28255" marB="28255" anchor="ctr">
                    <a:lnL>
                      <a:noFill/>
                    </a:lnL>
                    <a:lnR>
                      <a:noFill/>
                    </a:lnR>
                    <a:lnT>
                      <a:noFill/>
                    </a:lnT>
                    <a:lnB>
                      <a:noFill/>
                    </a:lnB>
                  </a:tcPr>
                </a:tc>
                <a:extLst>
                  <a:ext uri="{0D108BD9-81ED-4DB2-BD59-A6C34878D82A}">
                    <a16:rowId xmlns:a16="http://schemas.microsoft.com/office/drawing/2014/main" val="2811758782"/>
                  </a:ext>
                </a:extLst>
              </a:tr>
              <a:tr h="470296">
                <a:tc>
                  <a:txBody>
                    <a:bodyPr/>
                    <a:lstStyle/>
                    <a:p>
                      <a:r>
                        <a:rPr lang="en-US" sz="1400" b="1" dirty="0"/>
                        <a:t> Trust</a:t>
                      </a:r>
                      <a:endParaRPr lang="en-US" sz="1400" dirty="0"/>
                    </a:p>
                  </a:txBody>
                  <a:tcPr marL="56511" marR="56511" marT="28255" marB="28255" anchor="ctr">
                    <a:lnL>
                      <a:noFill/>
                    </a:lnL>
                    <a:lnR>
                      <a:noFill/>
                    </a:lnR>
                    <a:lnT>
                      <a:noFill/>
                    </a:lnT>
                    <a:lnB>
                      <a:noFill/>
                    </a:lnB>
                  </a:tcPr>
                </a:tc>
                <a:tc>
                  <a:txBody>
                    <a:bodyPr/>
                    <a:lstStyle/>
                    <a:p>
                      <a:r>
                        <a:rPr lang="en-US" sz="1400" dirty="0"/>
                        <a:t>Users may need stronger visual cues around authenticity, certification, warranty and returns.</a:t>
                      </a:r>
                    </a:p>
                  </a:txBody>
                  <a:tcPr marL="56511" marR="56511" marT="28255" marB="28255" anchor="ctr">
                    <a:lnL>
                      <a:noFill/>
                    </a:lnL>
                    <a:lnR>
                      <a:noFill/>
                    </a:lnR>
                    <a:lnT>
                      <a:noFill/>
                    </a:lnT>
                    <a:lnB>
                      <a:noFill/>
                    </a:lnB>
                  </a:tcPr>
                </a:tc>
                <a:extLst>
                  <a:ext uri="{0D108BD9-81ED-4DB2-BD59-A6C34878D82A}">
                    <a16:rowId xmlns:a16="http://schemas.microsoft.com/office/drawing/2014/main" val="1730015210"/>
                  </a:ext>
                </a:extLst>
              </a:tr>
              <a:tr h="470296">
                <a:tc>
                  <a:txBody>
                    <a:bodyPr/>
                    <a:lstStyle/>
                    <a:p>
                      <a:r>
                        <a:rPr lang="en-US" sz="1400" b="1" dirty="0"/>
                        <a:t> Error Recovery</a:t>
                      </a:r>
                      <a:endParaRPr lang="en-US" sz="1400" dirty="0"/>
                    </a:p>
                  </a:txBody>
                  <a:tcPr marL="56511" marR="56511" marT="28255" marB="28255" anchor="ctr">
                    <a:lnL>
                      <a:noFill/>
                    </a:lnL>
                    <a:lnR>
                      <a:noFill/>
                    </a:lnR>
                    <a:lnT>
                      <a:noFill/>
                    </a:lnT>
                    <a:lnB>
                      <a:noFill/>
                    </a:lnB>
                  </a:tcPr>
                </a:tc>
                <a:tc>
                  <a:txBody>
                    <a:bodyPr/>
                    <a:lstStyle/>
                    <a:p>
                      <a:r>
                        <a:rPr lang="en-US" sz="1400" dirty="0"/>
                        <a:t>Checkout and form errors could provide clearer guidance for correction.</a:t>
                      </a:r>
                    </a:p>
                  </a:txBody>
                  <a:tcPr marL="56511" marR="56511" marT="28255" marB="28255" anchor="ctr">
                    <a:lnL>
                      <a:noFill/>
                    </a:lnL>
                    <a:lnR>
                      <a:noFill/>
                    </a:lnR>
                    <a:lnT>
                      <a:noFill/>
                    </a:lnT>
                    <a:lnB>
                      <a:noFill/>
                    </a:lnB>
                  </a:tcPr>
                </a:tc>
                <a:extLst>
                  <a:ext uri="{0D108BD9-81ED-4DB2-BD59-A6C34878D82A}">
                    <a16:rowId xmlns:a16="http://schemas.microsoft.com/office/drawing/2014/main" val="4090551647"/>
                  </a:ext>
                </a:extLst>
              </a:tr>
              <a:tr h="671853">
                <a:tc>
                  <a:txBody>
                    <a:bodyPr/>
                    <a:lstStyle/>
                    <a:p>
                      <a:r>
                        <a:rPr lang="en-US" sz="1400" b="1" dirty="0"/>
                        <a:t> User Satisfaction</a:t>
                      </a:r>
                      <a:endParaRPr lang="en-US" sz="1400" dirty="0"/>
                    </a:p>
                  </a:txBody>
                  <a:tcPr marL="56511" marR="56511" marT="28255" marB="28255" anchor="ctr">
                    <a:lnL>
                      <a:noFill/>
                    </a:lnL>
                    <a:lnR>
                      <a:noFill/>
                    </a:lnR>
                    <a:lnT>
                      <a:noFill/>
                    </a:lnT>
                    <a:lnB>
                      <a:noFill/>
                    </a:lnB>
                  </a:tcPr>
                </a:tc>
                <a:tc>
                  <a:txBody>
                    <a:bodyPr/>
                    <a:lstStyle/>
                    <a:p>
                      <a:r>
                        <a:rPr lang="en-US" sz="1400" dirty="0"/>
                        <a:t>There is scope to reduce unnecessary steps and cognitive load while maintaining the extensive product selection.</a:t>
                      </a:r>
                    </a:p>
                  </a:txBody>
                  <a:tcPr marL="56511" marR="56511" marT="28255" marB="28255" anchor="ctr">
                    <a:lnL>
                      <a:noFill/>
                    </a:lnL>
                    <a:lnR>
                      <a:noFill/>
                    </a:lnR>
                    <a:lnT>
                      <a:noFill/>
                    </a:lnT>
                    <a:lnB>
                      <a:noFill/>
                    </a:lnB>
                  </a:tcPr>
                </a:tc>
                <a:extLst>
                  <a:ext uri="{0D108BD9-81ED-4DB2-BD59-A6C34878D82A}">
                    <a16:rowId xmlns:a16="http://schemas.microsoft.com/office/drawing/2014/main" val="3012528423"/>
                  </a:ext>
                </a:extLst>
              </a:tr>
            </a:tbl>
          </a:graphicData>
        </a:graphic>
      </p:graphicFrame>
      <p:graphicFrame>
        <p:nvGraphicFramePr>
          <p:cNvPr id="7" name="Table 6">
            <a:extLst>
              <a:ext uri="{FF2B5EF4-FFF2-40B4-BE49-F238E27FC236}">
                <a16:creationId xmlns:a16="http://schemas.microsoft.com/office/drawing/2014/main" id="{B9A1A236-7C5D-4C2D-AE37-566DCF9F90E4}"/>
              </a:ext>
            </a:extLst>
          </p:cNvPr>
          <p:cNvGraphicFramePr>
            <a:graphicFrameLocks noGrp="1"/>
          </p:cNvGraphicFramePr>
          <p:nvPr>
            <p:extLst>
              <p:ext uri="{D42A27DB-BD31-4B8C-83A1-F6EECF244321}">
                <p14:modId xmlns:p14="http://schemas.microsoft.com/office/powerpoint/2010/main" val="2342047967"/>
              </p:ext>
            </p:extLst>
          </p:nvPr>
        </p:nvGraphicFramePr>
        <p:xfrm>
          <a:off x="5024387" y="1437266"/>
          <a:ext cx="6112042" cy="5290793"/>
        </p:xfrm>
        <a:graphic>
          <a:graphicData uri="http://schemas.openxmlformats.org/drawingml/2006/table">
            <a:tbl>
              <a:tblPr>
                <a:tableStyleId>{2D5ABB26-0587-4C30-8999-92F81FD0307C}</a:tableStyleId>
              </a:tblPr>
              <a:tblGrid>
                <a:gridCol w="6112042">
                  <a:extLst>
                    <a:ext uri="{9D8B030D-6E8A-4147-A177-3AD203B41FA5}">
                      <a16:colId xmlns:a16="http://schemas.microsoft.com/office/drawing/2014/main" val="3687515878"/>
                    </a:ext>
                  </a:extLst>
                </a:gridCol>
              </a:tblGrid>
              <a:tr h="5290793">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845190166"/>
                  </a:ext>
                </a:extLst>
              </a:tr>
            </a:tbl>
          </a:graphicData>
        </a:graphic>
      </p:graphicFrame>
    </p:spTree>
    <p:extLst>
      <p:ext uri="{BB962C8B-B14F-4D97-AF65-F5344CB8AC3E}">
        <p14:creationId xmlns:p14="http://schemas.microsoft.com/office/powerpoint/2010/main" val="4846130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F064F-2790-4CDF-BA7C-17CA0C795E68}"/>
              </a:ext>
            </a:extLst>
          </p:cNvPr>
          <p:cNvSpPr>
            <a:spLocks noGrp="1"/>
          </p:cNvSpPr>
          <p:nvPr>
            <p:ph type="title"/>
          </p:nvPr>
        </p:nvSpPr>
        <p:spPr>
          <a:xfrm>
            <a:off x="1766236" y="240250"/>
            <a:ext cx="7843837" cy="646640"/>
          </a:xfrm>
        </p:spPr>
        <p:txBody>
          <a:bodyPr/>
          <a:lstStyle/>
          <a:p>
            <a:pPr algn="ctr"/>
            <a:r>
              <a:rPr lang="en-US" dirty="0"/>
              <a:t>Persona 1</a:t>
            </a:r>
          </a:p>
        </p:txBody>
      </p:sp>
      <p:pic>
        <p:nvPicPr>
          <p:cNvPr id="7" name="Picture 6">
            <a:extLst>
              <a:ext uri="{FF2B5EF4-FFF2-40B4-BE49-F238E27FC236}">
                <a16:creationId xmlns:a16="http://schemas.microsoft.com/office/drawing/2014/main" id="{24DBACBD-96A7-4B62-A02F-F7D2EE83B55C}"/>
              </a:ext>
            </a:extLst>
          </p:cNvPr>
          <p:cNvPicPr>
            <a:picLocks noChangeAspect="1"/>
          </p:cNvPicPr>
          <p:nvPr/>
        </p:nvPicPr>
        <p:blipFill rotWithShape="1">
          <a:blip r:embed="rId2"/>
          <a:srcRect r="50000" b="50000"/>
          <a:stretch/>
        </p:blipFill>
        <p:spPr>
          <a:xfrm>
            <a:off x="1625918" y="1189103"/>
            <a:ext cx="8124474" cy="5416316"/>
          </a:xfrm>
          <a:prstGeom prst="rect">
            <a:avLst/>
          </a:prstGeom>
        </p:spPr>
      </p:pic>
    </p:spTree>
    <p:extLst>
      <p:ext uri="{BB962C8B-B14F-4D97-AF65-F5344CB8AC3E}">
        <p14:creationId xmlns:p14="http://schemas.microsoft.com/office/powerpoint/2010/main" val="17938214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5E65D-DDE7-44BC-B163-833534C7DEF2}"/>
              </a:ext>
            </a:extLst>
          </p:cNvPr>
          <p:cNvSpPr>
            <a:spLocks noGrp="1"/>
          </p:cNvSpPr>
          <p:nvPr>
            <p:ph type="title"/>
          </p:nvPr>
        </p:nvSpPr>
        <p:spPr>
          <a:xfrm>
            <a:off x="3409888" y="277627"/>
            <a:ext cx="7965461" cy="780903"/>
          </a:xfrm>
        </p:spPr>
        <p:txBody>
          <a:bodyPr/>
          <a:lstStyle/>
          <a:p>
            <a:pPr algn="ctr"/>
            <a:r>
              <a:rPr lang="en-US" dirty="0"/>
              <a:t>Persona 2</a:t>
            </a:r>
          </a:p>
        </p:txBody>
      </p:sp>
      <p:pic>
        <p:nvPicPr>
          <p:cNvPr id="6" name="Picture 5">
            <a:extLst>
              <a:ext uri="{FF2B5EF4-FFF2-40B4-BE49-F238E27FC236}">
                <a16:creationId xmlns:a16="http://schemas.microsoft.com/office/drawing/2014/main" id="{1C689456-16E0-4385-A9D9-FFA95283FE6B}"/>
              </a:ext>
            </a:extLst>
          </p:cNvPr>
          <p:cNvPicPr>
            <a:picLocks noChangeAspect="1"/>
          </p:cNvPicPr>
          <p:nvPr/>
        </p:nvPicPr>
        <p:blipFill rotWithShape="1">
          <a:blip r:embed="rId2"/>
          <a:srcRect l="50000" b="50140"/>
          <a:stretch/>
        </p:blipFill>
        <p:spPr>
          <a:xfrm>
            <a:off x="3460565" y="1318661"/>
            <a:ext cx="7914784" cy="5261712"/>
          </a:xfrm>
          <a:prstGeom prst="rect">
            <a:avLst/>
          </a:prstGeom>
        </p:spPr>
      </p:pic>
    </p:spTree>
    <p:extLst>
      <p:ext uri="{BB962C8B-B14F-4D97-AF65-F5344CB8AC3E}">
        <p14:creationId xmlns:p14="http://schemas.microsoft.com/office/powerpoint/2010/main" val="678128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DDEE7-08F6-4521-870B-9F0032E45760}"/>
              </a:ext>
            </a:extLst>
          </p:cNvPr>
          <p:cNvSpPr>
            <a:spLocks noGrp="1"/>
          </p:cNvSpPr>
          <p:nvPr>
            <p:ph type="title"/>
          </p:nvPr>
        </p:nvSpPr>
        <p:spPr>
          <a:xfrm>
            <a:off x="613208" y="241300"/>
            <a:ext cx="7796464" cy="782409"/>
          </a:xfrm>
        </p:spPr>
        <p:txBody>
          <a:bodyPr/>
          <a:lstStyle/>
          <a:p>
            <a:pPr algn="ctr"/>
            <a:r>
              <a:rPr lang="en-US" dirty="0"/>
              <a:t>Persona 3</a:t>
            </a:r>
          </a:p>
        </p:txBody>
      </p:sp>
      <p:pic>
        <p:nvPicPr>
          <p:cNvPr id="7" name="Picture 6">
            <a:extLst>
              <a:ext uri="{FF2B5EF4-FFF2-40B4-BE49-F238E27FC236}">
                <a16:creationId xmlns:a16="http://schemas.microsoft.com/office/drawing/2014/main" id="{73F14CE8-938C-4BAF-B119-939021D84BFC}"/>
              </a:ext>
            </a:extLst>
          </p:cNvPr>
          <p:cNvPicPr>
            <a:picLocks noChangeAspect="1"/>
          </p:cNvPicPr>
          <p:nvPr/>
        </p:nvPicPr>
        <p:blipFill>
          <a:blip r:embed="rId2"/>
          <a:stretch>
            <a:fillRect/>
          </a:stretch>
        </p:blipFill>
        <p:spPr>
          <a:xfrm>
            <a:off x="613208" y="1419726"/>
            <a:ext cx="7796464" cy="5197642"/>
          </a:xfrm>
          <a:prstGeom prst="rect">
            <a:avLst/>
          </a:prstGeom>
        </p:spPr>
      </p:pic>
    </p:spTree>
    <p:extLst>
      <p:ext uri="{BB962C8B-B14F-4D97-AF65-F5344CB8AC3E}">
        <p14:creationId xmlns:p14="http://schemas.microsoft.com/office/powerpoint/2010/main" val="2225551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9EDA9-F833-4208-8D14-5879BBB4FAC6}"/>
              </a:ext>
            </a:extLst>
          </p:cNvPr>
          <p:cNvSpPr>
            <a:spLocks noGrp="1"/>
          </p:cNvSpPr>
          <p:nvPr>
            <p:ph type="title"/>
          </p:nvPr>
        </p:nvSpPr>
        <p:spPr>
          <a:xfrm>
            <a:off x="4356102" y="413886"/>
            <a:ext cx="7043617" cy="738039"/>
          </a:xfrm>
        </p:spPr>
        <p:txBody>
          <a:bodyPr/>
          <a:lstStyle/>
          <a:p>
            <a:pPr algn="ctr"/>
            <a:r>
              <a:rPr lang="en-US" dirty="0"/>
              <a:t>Persona 4 </a:t>
            </a:r>
          </a:p>
        </p:txBody>
      </p:sp>
      <p:pic>
        <p:nvPicPr>
          <p:cNvPr id="6" name="Picture 5">
            <a:extLst>
              <a:ext uri="{FF2B5EF4-FFF2-40B4-BE49-F238E27FC236}">
                <a16:creationId xmlns:a16="http://schemas.microsoft.com/office/drawing/2014/main" id="{DAEDFB23-8C68-48D7-A1D5-93550FACFBFB}"/>
              </a:ext>
            </a:extLst>
          </p:cNvPr>
          <p:cNvPicPr>
            <a:picLocks noChangeAspect="1"/>
          </p:cNvPicPr>
          <p:nvPr/>
        </p:nvPicPr>
        <p:blipFill rotWithShape="1">
          <a:blip r:embed="rId2"/>
          <a:srcRect l="50000" t="50000"/>
          <a:stretch/>
        </p:blipFill>
        <p:spPr>
          <a:xfrm>
            <a:off x="4070754" y="1367904"/>
            <a:ext cx="7614315" cy="5076210"/>
          </a:xfrm>
          <a:prstGeom prst="rect">
            <a:avLst/>
          </a:prstGeom>
        </p:spPr>
      </p:pic>
    </p:spTree>
    <p:extLst>
      <p:ext uri="{BB962C8B-B14F-4D97-AF65-F5344CB8AC3E}">
        <p14:creationId xmlns:p14="http://schemas.microsoft.com/office/powerpoint/2010/main" val="1954843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C68AF-BC48-44CD-812A-7D7741868728}"/>
              </a:ext>
            </a:extLst>
          </p:cNvPr>
          <p:cNvSpPr>
            <a:spLocks noGrp="1"/>
          </p:cNvSpPr>
          <p:nvPr>
            <p:ph type="title"/>
          </p:nvPr>
        </p:nvSpPr>
        <p:spPr>
          <a:xfrm>
            <a:off x="1183506" y="397422"/>
            <a:ext cx="7631709" cy="728734"/>
          </a:xfrm>
        </p:spPr>
        <p:txBody>
          <a:bodyPr/>
          <a:lstStyle/>
          <a:p>
            <a:pPr algn="ctr"/>
            <a:r>
              <a:rPr lang="en-US" dirty="0"/>
              <a:t>Persona 5</a:t>
            </a:r>
          </a:p>
        </p:txBody>
      </p:sp>
      <p:pic>
        <p:nvPicPr>
          <p:cNvPr id="8" name="Picture 7">
            <a:extLst>
              <a:ext uri="{FF2B5EF4-FFF2-40B4-BE49-F238E27FC236}">
                <a16:creationId xmlns:a16="http://schemas.microsoft.com/office/drawing/2014/main" id="{A31F1C70-0774-4527-B249-6EE93F5B471F}"/>
              </a:ext>
            </a:extLst>
          </p:cNvPr>
          <p:cNvPicPr>
            <a:picLocks noChangeAspect="1"/>
          </p:cNvPicPr>
          <p:nvPr/>
        </p:nvPicPr>
        <p:blipFill rotWithShape="1">
          <a:blip r:embed="rId2"/>
          <a:srcRect t="50000" r="50000"/>
          <a:stretch/>
        </p:blipFill>
        <p:spPr>
          <a:xfrm>
            <a:off x="1183506" y="1349942"/>
            <a:ext cx="7912368" cy="5274912"/>
          </a:xfrm>
          <a:prstGeom prst="rect">
            <a:avLst/>
          </a:prstGeom>
        </p:spPr>
      </p:pic>
    </p:spTree>
    <p:extLst>
      <p:ext uri="{BB962C8B-B14F-4D97-AF65-F5344CB8AC3E}">
        <p14:creationId xmlns:p14="http://schemas.microsoft.com/office/powerpoint/2010/main" val="28901925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BB66B-DA22-4BB5-AD0A-701BC90C0625}"/>
              </a:ext>
            </a:extLst>
          </p:cNvPr>
          <p:cNvSpPr>
            <a:spLocks noGrp="1"/>
          </p:cNvSpPr>
          <p:nvPr>
            <p:ph type="title"/>
          </p:nvPr>
        </p:nvSpPr>
        <p:spPr>
          <a:xfrm>
            <a:off x="1203158" y="197733"/>
            <a:ext cx="6583680" cy="721330"/>
          </a:xfrm>
        </p:spPr>
        <p:txBody>
          <a:bodyPr/>
          <a:lstStyle/>
          <a:p>
            <a:r>
              <a:rPr lang="en-US" dirty="0"/>
              <a:t>USER JOURNEY</a:t>
            </a:r>
          </a:p>
        </p:txBody>
      </p:sp>
      <p:pic>
        <p:nvPicPr>
          <p:cNvPr id="6" name="Picture 5">
            <a:extLst>
              <a:ext uri="{FF2B5EF4-FFF2-40B4-BE49-F238E27FC236}">
                <a16:creationId xmlns:a16="http://schemas.microsoft.com/office/drawing/2014/main" id="{BF08419C-23B0-4E74-A4A7-1509AA9D3F8E}"/>
              </a:ext>
            </a:extLst>
          </p:cNvPr>
          <p:cNvPicPr>
            <a:picLocks noChangeAspect="1"/>
          </p:cNvPicPr>
          <p:nvPr/>
        </p:nvPicPr>
        <p:blipFill rotWithShape="1">
          <a:blip r:embed="rId2"/>
          <a:srcRect t="8000" b="8351"/>
          <a:stretch/>
        </p:blipFill>
        <p:spPr>
          <a:xfrm>
            <a:off x="451986" y="1083438"/>
            <a:ext cx="9827795" cy="5480576"/>
          </a:xfrm>
          <a:prstGeom prst="rect">
            <a:avLst/>
          </a:prstGeom>
        </p:spPr>
      </p:pic>
    </p:spTree>
    <p:extLst>
      <p:ext uri="{BB962C8B-B14F-4D97-AF65-F5344CB8AC3E}">
        <p14:creationId xmlns:p14="http://schemas.microsoft.com/office/powerpoint/2010/main" val="2100460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1642A2E-85C2-4F14-88AB-099F3E4C0CE7}"/>
              </a:ext>
            </a:extLst>
          </p:cNvPr>
          <p:cNvSpPr>
            <a:spLocks noGrp="1"/>
          </p:cNvSpPr>
          <p:nvPr>
            <p:ph type="subTitle" idx="1"/>
          </p:nvPr>
        </p:nvSpPr>
        <p:spPr>
          <a:xfrm>
            <a:off x="1183908" y="3341583"/>
            <a:ext cx="5715000" cy="2234642"/>
          </a:xfrm>
        </p:spPr>
        <p:txBody>
          <a:bodyPr/>
          <a:lstStyle/>
          <a:p>
            <a:r>
              <a:rPr lang="en-US" dirty="0"/>
              <a:t>NAME : </a:t>
            </a:r>
            <a:r>
              <a:rPr lang="en-US" dirty="0" err="1"/>
              <a:t>Mahek</a:t>
            </a:r>
            <a:r>
              <a:rPr lang="en-US" dirty="0"/>
              <a:t> </a:t>
            </a:r>
            <a:r>
              <a:rPr lang="en-US" dirty="0" err="1"/>
              <a:t>Katharotiya</a:t>
            </a:r>
            <a:endParaRPr lang="en-US" dirty="0"/>
          </a:p>
          <a:p>
            <a:r>
              <a:rPr lang="en-US" dirty="0"/>
              <a:t>PRN : 1262242460</a:t>
            </a:r>
          </a:p>
          <a:p>
            <a:r>
              <a:rPr lang="en-US" dirty="0"/>
              <a:t>PANEL : F</a:t>
            </a:r>
          </a:p>
        </p:txBody>
      </p:sp>
      <p:sp>
        <p:nvSpPr>
          <p:cNvPr id="5" name="TextBox 4">
            <a:extLst>
              <a:ext uri="{FF2B5EF4-FFF2-40B4-BE49-F238E27FC236}">
                <a16:creationId xmlns:a16="http://schemas.microsoft.com/office/drawing/2014/main" id="{06B6E4C1-FD5D-4DF2-92BA-E3EC8FEB2E6C}"/>
              </a:ext>
            </a:extLst>
          </p:cNvPr>
          <p:cNvSpPr txBox="1"/>
          <p:nvPr/>
        </p:nvSpPr>
        <p:spPr>
          <a:xfrm>
            <a:off x="914401" y="1799344"/>
            <a:ext cx="5715000" cy="769441"/>
          </a:xfrm>
          <a:prstGeom prst="rect">
            <a:avLst/>
          </a:prstGeom>
          <a:noFill/>
        </p:spPr>
        <p:txBody>
          <a:bodyPr wrap="square" rtlCol="0">
            <a:spAutoFit/>
          </a:bodyPr>
          <a:lstStyle/>
          <a:p>
            <a:pPr algn="ctr"/>
            <a:r>
              <a:rPr lang="en-US" sz="4400" dirty="0">
                <a:solidFill>
                  <a:schemeClr val="accent6"/>
                </a:solidFill>
                <a:latin typeface="+mj-lt"/>
              </a:rPr>
              <a:t>THANK YOU</a:t>
            </a:r>
          </a:p>
        </p:txBody>
      </p:sp>
    </p:spTree>
    <p:extLst>
      <p:ext uri="{BB962C8B-B14F-4D97-AF65-F5344CB8AC3E}">
        <p14:creationId xmlns:p14="http://schemas.microsoft.com/office/powerpoint/2010/main" val="1865184153"/>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{6C9DBEBE-87E1-4E2F-A76F-E231380C60FE}TF8a9b5915-b8c7-461e-8cdd-693d48b5e32371f7b7e2_win32-4bf0b9a2ea37</Template>
  <TotalTime>66</TotalTime>
  <Words>330</Words>
  <Application>Microsoft Office PowerPoint</Application>
  <PresentationFormat>Widescreen</PresentationFormat>
  <Paragraphs>36</Paragraphs>
  <Slides>10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Arial Black</vt:lpstr>
      <vt:lpstr>Calibri</vt:lpstr>
      <vt:lpstr>Sabon Next LT</vt:lpstr>
      <vt:lpstr>Custom</vt:lpstr>
      <vt:lpstr>Bluestone  personas</vt:lpstr>
      <vt:lpstr>Research gap</vt:lpstr>
      <vt:lpstr>Key research gaps</vt:lpstr>
      <vt:lpstr>Persona 1</vt:lpstr>
      <vt:lpstr>Persona 2</vt:lpstr>
      <vt:lpstr>Persona 3</vt:lpstr>
      <vt:lpstr>Persona 4 </vt:lpstr>
      <vt:lpstr>Persona 5</vt:lpstr>
      <vt:lpstr>USER JOURNEY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Bluestone  personas</dc:title>
  <dc:subject/>
  <dc:creator>hp</dc:creator>
  <cp:lastModifiedBy>hp</cp:lastModifiedBy>
  <cp:revision>2</cp:revision>
  <dcterms:created xsi:type="dcterms:W3CDTF">2026-08-08T13:29:41Z</dcterms:created>
  <dcterms:modified xsi:type="dcterms:W3CDTF">2026-08-08T14:36:01Z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